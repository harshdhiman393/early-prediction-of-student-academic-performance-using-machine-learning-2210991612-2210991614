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57" r:id="rId6"/>
    <p:sldId id="269" r:id="rId7"/>
    <p:sldId id="270" r:id="rId8"/>
    <p:sldId id="271" r:id="rId9"/>
    <p:sldId id="272" r:id="rId10"/>
    <p:sldId id="273" r:id="rId11"/>
    <p:sldId id="274" r:id="rId12"/>
    <p:sldId id="275" r:id="rId13"/>
    <p:sldId id="276" r:id="rId14"/>
    <p:sldId id="277" r:id="rId15"/>
    <p:sldId id="278" r:id="rId16"/>
    <p:sldId id="268" r:id="rId1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9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800" dirty="0"/>
              <a:t>Early Prediction of Student Academic Performance Using Machine Learning</a:t>
            </a:r>
            <a:endParaRPr lang="en-US" sz="28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Harsh-(2210991614)</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Harsh-(2210991612)</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Mr. Ajay  </a:t>
            </a:r>
            <a:r>
              <a:rPr lang="en-US" sz="2000" spc="-1" dirty="0" err="1">
                <a:solidFill>
                  <a:srgbClr val="000000"/>
                </a:solidFill>
                <a:latin typeface="Times New Roman" panose="02020603050405020304" pitchFamily="18" charset="0"/>
                <a:ea typeface="MS PGothic"/>
                <a:cs typeface="Times New Roman" panose="02020603050405020304" pitchFamily="18" charset="0"/>
              </a:rPr>
              <a:t>kumar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447560" y="-32463"/>
            <a:ext cx="6019560" cy="837720"/>
          </a:xfrm>
          <a:prstGeom prst="rect">
            <a:avLst/>
          </a:prstGeom>
          <a:noFill/>
          <a:ln w="9360">
            <a:noFill/>
          </a:ln>
        </p:spPr>
        <p:txBody>
          <a:bodyPr anchor="ctr">
            <a:noAutofit/>
          </a:bodyPr>
          <a:lstStyle/>
          <a:p>
            <a:pPr algn="ctr">
              <a:lnSpc>
                <a:spcPct val="100000"/>
              </a:lnSpc>
            </a:pPr>
            <a:r>
              <a:rPr lang="en" sz="4400" dirty="0">
                <a:latin typeface="Times New Roman" panose="02020603050405020304" pitchFamily="18" charset="0"/>
                <a:cs typeface="Times New Roman" panose="02020603050405020304" pitchFamily="18" charset="0"/>
              </a:rPr>
              <a:t>Introduction</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457199" y="1317523"/>
            <a:ext cx="6837855" cy="5403677"/>
          </a:xfrm>
          <a:prstGeom prst="rect">
            <a:avLst/>
          </a:prstGeom>
          <a:noFill/>
          <a:ln w="9360">
            <a:noFill/>
          </a:ln>
        </p:spPr>
        <p:txBody>
          <a:bodyPr>
            <a:noAutofit/>
          </a:bodyPr>
          <a:lstStyle/>
          <a:p>
            <a:pPr>
              <a:lnSpc>
                <a:spcPct val="100000"/>
              </a:lnSpc>
              <a:spcBef>
                <a:spcPts val="400"/>
              </a:spcBef>
            </a:pPr>
            <a:endParaRPr lang="en-US" sz="1900" b="0" strike="noStrike" spc="-1" dirty="0">
              <a:solidFill>
                <a:srgbClr val="000000"/>
              </a:solidFill>
              <a:latin typeface="Calibri"/>
            </a:endParaRPr>
          </a:p>
        </p:txBody>
      </p:sp>
      <p:sp>
        <p:nvSpPr>
          <p:cNvPr id="3" name="TextBox 2">
            <a:extLst>
              <a:ext uri="{FF2B5EF4-FFF2-40B4-BE49-F238E27FC236}">
                <a16:creationId xmlns:a16="http://schemas.microsoft.com/office/drawing/2014/main" id="{BE0C39E2-6BDD-AB86-AD81-4EC987427C98}"/>
              </a:ext>
            </a:extLst>
          </p:cNvPr>
          <p:cNvSpPr txBox="1"/>
          <p:nvPr/>
        </p:nvSpPr>
        <p:spPr>
          <a:xfrm>
            <a:off x="78658" y="805257"/>
            <a:ext cx="9065341" cy="5632311"/>
          </a:xfrm>
          <a:prstGeom prst="rect">
            <a:avLst/>
          </a:prstGeom>
          <a:noFill/>
        </p:spPr>
        <p:txBody>
          <a:bodyPr wrap="square">
            <a:spAutoFit/>
          </a:bodyPr>
          <a:lstStyle/>
          <a:p>
            <a:r>
              <a:rPr lang="en-US" sz="2000" dirty="0"/>
              <a:t>In recent years, the education sector has increasingly adopted digital technologies and data analytics to better understand student learning and performance. Educational institutions collect large amounts of data such as attendance, internal assessment scores, study habits, and previous academic records. Analyzing this data can provide valuable insights into students’ academic progress and learning behavior . One major challenge faced by educators is identifying students who may struggle academically at an early stage. Traditional evaluation methods, such as final exams and periodic tests, often detect poor performance only at the end of a term, leaving little opportunity for timely intervention. As a result, students who need support may not receive it when it is most  needed. Machine learning offers a powerful solution to this problem by analyzing student data and identifying patterns that influence academic outcomes. By using predictive models, it becomes possible to estimate student performance in advance and identify those who may be at risk. This study proposes a machine learning-based approach that uses factors such as attendance, internal assessment marks, study hours, and previous performance to predict student academic performance and help educators take early corrective actions</a:t>
            </a:r>
            <a:r>
              <a:rPr lang="en-US" dirty="0"/>
              <a:t>.</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3BD01-1753-13D2-78C3-3E0B7430DEB2}"/>
              </a:ext>
            </a:extLst>
          </p:cNvPr>
          <p:cNvSpPr>
            <a:spLocks noGrp="1"/>
          </p:cNvSpPr>
          <p:nvPr>
            <p:ph type="title"/>
          </p:nvPr>
        </p:nvSpPr>
        <p:spPr/>
        <p:txBody>
          <a:bodyPr/>
          <a:lstStyle/>
          <a:p>
            <a:r>
              <a:rPr lang="en-US" dirty="0"/>
              <a:t>Objectives</a:t>
            </a:r>
            <a:endParaRPr lang="en-IN" dirty="0"/>
          </a:p>
        </p:txBody>
      </p:sp>
      <p:sp>
        <p:nvSpPr>
          <p:cNvPr id="3" name="Subtitle 2">
            <a:extLst>
              <a:ext uri="{FF2B5EF4-FFF2-40B4-BE49-F238E27FC236}">
                <a16:creationId xmlns:a16="http://schemas.microsoft.com/office/drawing/2014/main" id="{C07D80D5-C29A-C8CD-2207-8D85BC2C4FC1}"/>
              </a:ext>
            </a:extLst>
          </p:cNvPr>
          <p:cNvSpPr>
            <a:spLocks noGrp="1"/>
          </p:cNvSpPr>
          <p:nvPr>
            <p:ph type="subTitle"/>
          </p:nvPr>
        </p:nvSpPr>
        <p:spPr>
          <a:xfrm>
            <a:off x="0" y="599768"/>
            <a:ext cx="8888361" cy="3765755"/>
          </a:xfrm>
        </p:spPr>
        <p:txBody>
          <a:bodyPr/>
          <a:lstStyle/>
          <a:p>
            <a:pPr marL="0" indent="0">
              <a:buNone/>
            </a:pPr>
            <a:r>
              <a:rPr lang="en-US" sz="1800" dirty="0"/>
              <a:t>Objectives of the Study The main objective of this study is to develop a machine learning-based system that can predict student academic performance at an early stage. Early prediction helps educators identify students who may be at risk and provide timely guidance and support .Another objective is to analyze important factors that influence student performance, such as attendance, internal assessment marks, study hours, and previous academic performance. Understanding these factors helps in identifying key elements that affect learning outcomes .The study also aims to implement and compare different machine learning algorithms, including Logistic Regression, Decision Tree, and Random Forest, to determine which model provides the most accurate predictions. The performance of these models is evaluated using metrics such as accuracy and confusion Matrix.</a:t>
            </a:r>
            <a:endParaRPr lang="en-IN" sz="1800" dirty="0"/>
          </a:p>
        </p:txBody>
      </p:sp>
    </p:spTree>
    <p:extLst>
      <p:ext uri="{BB962C8B-B14F-4D97-AF65-F5344CB8AC3E}">
        <p14:creationId xmlns:p14="http://schemas.microsoft.com/office/powerpoint/2010/main" val="178268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9D28F-968A-6462-8C8D-4DCFA8D92C6C}"/>
              </a:ext>
            </a:extLst>
          </p:cNvPr>
          <p:cNvSpPr>
            <a:spLocks noGrp="1"/>
          </p:cNvSpPr>
          <p:nvPr>
            <p:ph type="title"/>
          </p:nvPr>
        </p:nvSpPr>
        <p:spPr/>
        <p:txBody>
          <a:bodyPr/>
          <a:lstStyle/>
          <a:p>
            <a:r>
              <a:rPr lang="en-US" baseline="-25000" dirty="0"/>
              <a:t>Related Work</a:t>
            </a:r>
            <a:endParaRPr lang="en-IN" dirty="0"/>
          </a:p>
        </p:txBody>
      </p:sp>
      <p:sp>
        <p:nvSpPr>
          <p:cNvPr id="3" name="Subtitle 2">
            <a:extLst>
              <a:ext uri="{FF2B5EF4-FFF2-40B4-BE49-F238E27FC236}">
                <a16:creationId xmlns:a16="http://schemas.microsoft.com/office/drawing/2014/main" id="{327EEC5C-0940-1BD3-87F0-0721D960DFE1}"/>
              </a:ext>
            </a:extLst>
          </p:cNvPr>
          <p:cNvSpPr>
            <a:spLocks noGrp="1"/>
          </p:cNvSpPr>
          <p:nvPr>
            <p:ph type="subTitle"/>
          </p:nvPr>
        </p:nvSpPr>
        <p:spPr>
          <a:xfrm>
            <a:off x="1" y="-4129549"/>
            <a:ext cx="8894506" cy="14236749"/>
          </a:xfrm>
        </p:spPr>
        <p:txBody>
          <a:bodyPr/>
          <a:lstStyle/>
          <a:p>
            <a:pPr marL="0" indent="0">
              <a:buNone/>
            </a:pPr>
            <a:r>
              <a:rPr lang="en-US" sz="2400" baseline="-25000" dirty="0"/>
              <a:t>In recent years, educational data mining has gained significant attention for analyzing student data and predicting academic performance. Earlier research mainly used traditional statistical methods such as regression and correlation to study relationships between academic factors and student outcomes. Although these techniques provided useful insights, they were often limited in handling complex and non-linear  datasets. With the advancement of machine learning techniques, researchers have started using classification algorithms to improve prediction accuracy. Models such as Decision Trees are widely used because they are simple and easy to interpret. Other approaches like Support Vector Machines (SVM) have also been applied to handle complex datasets with multiple  features. More recent studies have focused on ensemble learning methods, such as Random Forest, which combine multiple models to improve prediction performance and reduce overfitting. Research has also highlighted the importance of selecting relevant features such as attendance, study habits, and prior academic performance, as these factors significantly influence student success.</a:t>
            </a:r>
            <a:endParaRPr lang="en-IN" sz="2400" baseline="-25000" dirty="0"/>
          </a:p>
        </p:txBody>
      </p:sp>
    </p:spTree>
    <p:extLst>
      <p:ext uri="{BB962C8B-B14F-4D97-AF65-F5344CB8AC3E}">
        <p14:creationId xmlns:p14="http://schemas.microsoft.com/office/powerpoint/2010/main" val="1782124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20F9-96B1-6210-11CA-2855B8F1EA0C}"/>
              </a:ext>
            </a:extLst>
          </p:cNvPr>
          <p:cNvSpPr>
            <a:spLocks noGrp="1"/>
          </p:cNvSpPr>
          <p:nvPr>
            <p:ph type="title"/>
          </p:nvPr>
        </p:nvSpPr>
        <p:spPr>
          <a:xfrm>
            <a:off x="0" y="-39329"/>
            <a:ext cx="5240594" cy="865239"/>
          </a:xfrm>
        </p:spPr>
        <p:txBody>
          <a:bodyPr/>
          <a:lstStyle/>
          <a:p>
            <a:r>
              <a:rPr lang="en-US" dirty="0"/>
              <a:t>Dataset Description </a:t>
            </a:r>
            <a:endParaRPr lang="en-IN" dirty="0"/>
          </a:p>
        </p:txBody>
      </p:sp>
      <p:sp>
        <p:nvSpPr>
          <p:cNvPr id="3" name="Subtitle 2">
            <a:extLst>
              <a:ext uri="{FF2B5EF4-FFF2-40B4-BE49-F238E27FC236}">
                <a16:creationId xmlns:a16="http://schemas.microsoft.com/office/drawing/2014/main" id="{CAA03277-369F-A259-E9AF-B0E27C9AB35F}"/>
              </a:ext>
            </a:extLst>
          </p:cNvPr>
          <p:cNvSpPr>
            <a:spLocks noGrp="1"/>
          </p:cNvSpPr>
          <p:nvPr>
            <p:ph type="subTitle"/>
          </p:nvPr>
        </p:nvSpPr>
        <p:spPr>
          <a:xfrm>
            <a:off x="0" y="-825910"/>
            <a:ext cx="8686620" cy="6161903"/>
          </a:xfrm>
        </p:spPr>
        <p:txBody>
          <a:bodyPr/>
          <a:lstStyle/>
          <a:p>
            <a:pPr marL="0" indent="0">
              <a:buNone/>
            </a:pPr>
            <a:r>
              <a:rPr lang="en-US" sz="2000" dirty="0"/>
              <a:t>The dataset used in this study consists of several student-related attributes collected from academic records. These attributes represent important factors that influence a student’s academic performance. The dataset includes features such as attendance percentage, internal assessment marks, study hours, and previous academic  performance. Attendance reflects the level of a student’s participation and engagement in classroom activities. </a:t>
            </a:r>
            <a:endParaRPr lang="en-IN" sz="2000" dirty="0"/>
          </a:p>
        </p:txBody>
      </p:sp>
    </p:spTree>
    <p:extLst>
      <p:ext uri="{BB962C8B-B14F-4D97-AF65-F5344CB8AC3E}">
        <p14:creationId xmlns:p14="http://schemas.microsoft.com/office/powerpoint/2010/main" val="1386961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3957-4FFC-3E68-D3F3-C27C383CFA1A}"/>
              </a:ext>
            </a:extLst>
          </p:cNvPr>
          <p:cNvSpPr>
            <a:spLocks noGrp="1"/>
          </p:cNvSpPr>
          <p:nvPr>
            <p:ph type="title"/>
          </p:nvPr>
        </p:nvSpPr>
        <p:spPr>
          <a:xfrm>
            <a:off x="0" y="0"/>
            <a:ext cx="6027174" cy="796413"/>
          </a:xfrm>
        </p:spPr>
        <p:txBody>
          <a:bodyPr/>
          <a:lstStyle/>
          <a:p>
            <a:r>
              <a:rPr lang="en-US" dirty="0"/>
              <a:t>Data Preprocessing</a:t>
            </a:r>
            <a:endParaRPr lang="en-IN" dirty="0"/>
          </a:p>
        </p:txBody>
      </p:sp>
      <p:sp>
        <p:nvSpPr>
          <p:cNvPr id="3" name="Subtitle 2">
            <a:extLst>
              <a:ext uri="{FF2B5EF4-FFF2-40B4-BE49-F238E27FC236}">
                <a16:creationId xmlns:a16="http://schemas.microsoft.com/office/drawing/2014/main" id="{FC8D69F9-EE7E-7B8C-F922-F9F03B531E65}"/>
              </a:ext>
            </a:extLst>
          </p:cNvPr>
          <p:cNvSpPr>
            <a:spLocks noGrp="1"/>
          </p:cNvSpPr>
          <p:nvPr>
            <p:ph type="subTitle"/>
          </p:nvPr>
        </p:nvSpPr>
        <p:spPr>
          <a:xfrm>
            <a:off x="0" y="-609600"/>
            <a:ext cx="8686439" cy="6191400"/>
          </a:xfrm>
        </p:spPr>
        <p:txBody>
          <a:bodyPr/>
          <a:lstStyle/>
          <a:p>
            <a:pPr marL="0" indent="0">
              <a:buNone/>
            </a:pPr>
            <a:r>
              <a:rPr lang="en-US" sz="2000" dirty="0"/>
              <a:t>Preprocessing is an important step in the machine learning process because the quality of input data directly affects the performance of the model. In this study, several preprocessing techniques are applied to ensure that the dataset is clean, consistent, and suitable for model </a:t>
            </a:r>
            <a:r>
              <a:rPr lang="en-US" sz="2000" dirty="0" err="1"/>
              <a:t>training.First</a:t>
            </a:r>
            <a:r>
              <a:rPr lang="en-US" sz="2000" dirty="0"/>
              <a:t>, data cleaning is performed to identify and handle missing values, errors, or inconsistencies in the dataset. This step helps improve the reliability and accuracy of the data. Next, normalization is applied to scale the feature values into a common range. This ensures that features with larger numerical values do not dominate the learning process and allows the models to perform more effectively.</a:t>
            </a:r>
            <a:endParaRPr lang="en-IN" sz="2000" dirty="0"/>
          </a:p>
        </p:txBody>
      </p:sp>
    </p:spTree>
    <p:extLst>
      <p:ext uri="{BB962C8B-B14F-4D97-AF65-F5344CB8AC3E}">
        <p14:creationId xmlns:p14="http://schemas.microsoft.com/office/powerpoint/2010/main" val="2932761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AC75B-519F-6655-738F-F8B94915B01D}"/>
              </a:ext>
            </a:extLst>
          </p:cNvPr>
          <p:cNvSpPr>
            <a:spLocks noGrp="1"/>
          </p:cNvSpPr>
          <p:nvPr>
            <p:ph type="title"/>
          </p:nvPr>
        </p:nvSpPr>
        <p:spPr/>
        <p:txBody>
          <a:bodyPr/>
          <a:lstStyle/>
          <a:p>
            <a:r>
              <a:rPr lang="en-US" dirty="0"/>
              <a:t>System Workflow</a:t>
            </a:r>
            <a:endParaRPr lang="en-IN" dirty="0"/>
          </a:p>
        </p:txBody>
      </p:sp>
      <p:sp>
        <p:nvSpPr>
          <p:cNvPr id="3" name="Subtitle 2">
            <a:extLst>
              <a:ext uri="{FF2B5EF4-FFF2-40B4-BE49-F238E27FC236}">
                <a16:creationId xmlns:a16="http://schemas.microsoft.com/office/drawing/2014/main" id="{885DD759-5321-40D8-ABE5-6A9195D17B34}"/>
              </a:ext>
            </a:extLst>
          </p:cNvPr>
          <p:cNvSpPr>
            <a:spLocks noGrp="1"/>
          </p:cNvSpPr>
          <p:nvPr>
            <p:ph type="subTitle"/>
          </p:nvPr>
        </p:nvSpPr>
        <p:spPr>
          <a:xfrm>
            <a:off x="0" y="-835742"/>
            <a:ext cx="8686440" cy="6417542"/>
          </a:xfrm>
        </p:spPr>
        <p:txBody>
          <a:bodyPr/>
          <a:lstStyle/>
          <a:p>
            <a:pPr marL="0" indent="0">
              <a:buNone/>
            </a:pPr>
            <a:r>
              <a:rPr lang="en-US" sz="2000" dirty="0"/>
              <a:t>System Workflow The proposed system follows a structured workflow to ensure accurate prediction of student academic performance. The process begins with data collection, where student-related information such as attendance, internal assessment marks, study hours, and previous academic performance is gathered from academic records. After collecting the data, data preprocessing is performed to clean the dataset, handle missing values, and normalize feature values so that the data becomes consistent and suitable for analysis. The next step is feature selection, where the most relevant attributes that influence student performance are identified.</a:t>
            </a:r>
            <a:endParaRPr lang="en-IN" sz="2000" dirty="0"/>
          </a:p>
        </p:txBody>
      </p:sp>
    </p:spTree>
    <p:extLst>
      <p:ext uri="{BB962C8B-B14F-4D97-AF65-F5344CB8AC3E}">
        <p14:creationId xmlns:p14="http://schemas.microsoft.com/office/powerpoint/2010/main" val="3627726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529C7-013C-56F8-7F62-F0E681E0E80C}"/>
              </a:ext>
            </a:extLst>
          </p:cNvPr>
          <p:cNvSpPr>
            <a:spLocks noGrp="1"/>
          </p:cNvSpPr>
          <p:nvPr>
            <p:ph type="title"/>
          </p:nvPr>
        </p:nvSpPr>
        <p:spPr>
          <a:xfrm>
            <a:off x="-1" y="-1"/>
            <a:ext cx="6361471" cy="953729"/>
          </a:xfrm>
        </p:spPr>
        <p:txBody>
          <a:bodyPr/>
          <a:lstStyle/>
          <a:p>
            <a:r>
              <a:rPr lang="en-US" dirty="0"/>
              <a:t>Results and Discussion</a:t>
            </a:r>
            <a:endParaRPr lang="en-IN" dirty="0"/>
          </a:p>
        </p:txBody>
      </p:sp>
      <p:sp>
        <p:nvSpPr>
          <p:cNvPr id="3" name="Subtitle 2">
            <a:extLst>
              <a:ext uri="{FF2B5EF4-FFF2-40B4-BE49-F238E27FC236}">
                <a16:creationId xmlns:a16="http://schemas.microsoft.com/office/drawing/2014/main" id="{43471874-4A43-5F83-64D1-0740B93958D7}"/>
              </a:ext>
            </a:extLst>
          </p:cNvPr>
          <p:cNvSpPr>
            <a:spLocks noGrp="1"/>
          </p:cNvSpPr>
          <p:nvPr>
            <p:ph type="subTitle"/>
          </p:nvPr>
        </p:nvSpPr>
        <p:spPr>
          <a:xfrm>
            <a:off x="88490" y="-1563329"/>
            <a:ext cx="8597950" cy="7875639"/>
          </a:xfrm>
        </p:spPr>
        <p:txBody>
          <a:bodyPr/>
          <a:lstStyle/>
          <a:p>
            <a:pPr marL="0" indent="0">
              <a:buNone/>
            </a:pPr>
            <a:r>
              <a:rPr lang="en-US" sz="2000" dirty="0"/>
              <a:t>Results and Discussion The performance of the implemented machine         learning models was evaluated and compared using accuracy as the main evaluation metric. The results show that each model performs differently in predicting student academic  performance. Logistic Regression achieved an accuracy of approximately 75–80%. Although it provides a simple and efficient baseline model, it is less effective in capturing complex relationships within the dataset.</a:t>
            </a:r>
            <a:endParaRPr lang="en-IN" sz="2000" dirty="0"/>
          </a:p>
        </p:txBody>
      </p:sp>
    </p:spTree>
    <p:extLst>
      <p:ext uri="{BB962C8B-B14F-4D97-AF65-F5344CB8AC3E}">
        <p14:creationId xmlns:p14="http://schemas.microsoft.com/office/powerpoint/2010/main" val="3089602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31C729-91B6-8685-2FA6-44AD70706C18}"/>
              </a:ext>
            </a:extLst>
          </p:cNvPr>
          <p:cNvSpPr txBox="1"/>
          <p:nvPr/>
        </p:nvSpPr>
        <p:spPr>
          <a:xfrm>
            <a:off x="167147" y="963561"/>
            <a:ext cx="8386917" cy="2031325"/>
          </a:xfrm>
          <a:prstGeom prst="rect">
            <a:avLst/>
          </a:prstGeom>
          <a:noFill/>
        </p:spPr>
        <p:txBody>
          <a:bodyPr wrap="square">
            <a:spAutoFit/>
          </a:bodyPr>
          <a:lstStyle/>
          <a:p>
            <a:r>
              <a:rPr lang="en-US" dirty="0"/>
              <a:t>Decision Tree performed better, achieving an accuracy of around 82–85%. This model is able to capture non-linear patterns in the data, but it may sometimes suffer from overfitting when dealing with complex  datasets. The Random Forest model produced the best results with an accuracy of approximately 88%. By combining multiple decision trees, it improves prediction accuracy and reduces overfitting. The results indicate that Random Forest is the most reliable model for predicting student academic performance in this study.</a:t>
            </a:r>
            <a:endParaRPr lang="en-IN" dirty="0"/>
          </a:p>
        </p:txBody>
      </p:sp>
    </p:spTree>
    <p:extLst>
      <p:ext uri="{BB962C8B-B14F-4D97-AF65-F5344CB8AC3E}">
        <p14:creationId xmlns:p14="http://schemas.microsoft.com/office/powerpoint/2010/main" val="1209992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FA6A0-B6DC-9C44-CBB6-5AEC51BAFFC4}"/>
              </a:ext>
            </a:extLst>
          </p:cNvPr>
          <p:cNvSpPr>
            <a:spLocks noGrp="1"/>
          </p:cNvSpPr>
          <p:nvPr>
            <p:ph type="title"/>
          </p:nvPr>
        </p:nvSpPr>
        <p:spPr>
          <a:xfrm>
            <a:off x="-1" y="0"/>
            <a:ext cx="6440129" cy="845574"/>
          </a:xfrm>
        </p:spPr>
        <p:txBody>
          <a:bodyPr/>
          <a:lstStyle/>
          <a:p>
            <a:r>
              <a:rPr lang="en-US" dirty="0"/>
              <a:t>Limitations and Future</a:t>
            </a:r>
            <a:endParaRPr lang="en-IN" dirty="0"/>
          </a:p>
        </p:txBody>
      </p:sp>
      <p:sp>
        <p:nvSpPr>
          <p:cNvPr id="3" name="Subtitle 2">
            <a:extLst>
              <a:ext uri="{FF2B5EF4-FFF2-40B4-BE49-F238E27FC236}">
                <a16:creationId xmlns:a16="http://schemas.microsoft.com/office/drawing/2014/main" id="{011EE4B4-498E-2A2C-E5D4-73C455C91CF9}"/>
              </a:ext>
            </a:extLst>
          </p:cNvPr>
          <p:cNvSpPr>
            <a:spLocks noGrp="1"/>
          </p:cNvSpPr>
          <p:nvPr>
            <p:ph type="subTitle"/>
          </p:nvPr>
        </p:nvSpPr>
        <p:spPr>
          <a:xfrm>
            <a:off x="-1" y="-1602658"/>
            <a:ext cx="8686441" cy="7184458"/>
          </a:xfrm>
        </p:spPr>
        <p:txBody>
          <a:bodyPr/>
          <a:lstStyle/>
          <a:p>
            <a:pPr marL="0" indent="0">
              <a:buNone/>
            </a:pPr>
            <a:r>
              <a:rPr lang="en-US" sz="2000" dirty="0"/>
              <a:t>Work Although the proposed system demonstrates promising results in predicting student academic performance, it has certain limitations. One major limitation is that the dataset used in this study is relatively small and may not represent all the factors that influence student performance. Additionally, the study focuses only on basic machine learning algorithms, which may limit the overall predictive capability of the system</a:t>
            </a:r>
            <a:r>
              <a:rPr lang="en-US" dirty="0"/>
              <a:t>.</a:t>
            </a:r>
            <a:endParaRPr lang="en-IN" dirty="0"/>
          </a:p>
        </p:txBody>
      </p:sp>
    </p:spTree>
    <p:extLst>
      <p:ext uri="{BB962C8B-B14F-4D97-AF65-F5344CB8AC3E}">
        <p14:creationId xmlns:p14="http://schemas.microsoft.com/office/powerpoint/2010/main" val="27644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E6517-40CF-8685-D5A8-45376FEDDE23}"/>
              </a:ext>
            </a:extLst>
          </p:cNvPr>
          <p:cNvSpPr>
            <a:spLocks noGrp="1"/>
          </p:cNvSpPr>
          <p:nvPr>
            <p:ph type="title"/>
          </p:nvPr>
        </p:nvSpPr>
        <p:spPr/>
        <p:txBody>
          <a:bodyPr/>
          <a:lstStyle/>
          <a:p>
            <a:r>
              <a:rPr lang="en-US" dirty="0"/>
              <a:t>Conclusion</a:t>
            </a:r>
            <a:endParaRPr lang="en-IN" dirty="0"/>
          </a:p>
        </p:txBody>
      </p:sp>
      <p:sp>
        <p:nvSpPr>
          <p:cNvPr id="3" name="Subtitle 2">
            <a:extLst>
              <a:ext uri="{FF2B5EF4-FFF2-40B4-BE49-F238E27FC236}">
                <a16:creationId xmlns:a16="http://schemas.microsoft.com/office/drawing/2014/main" id="{DA07D995-2623-A9FC-FAC5-8B2E60ED69A9}"/>
              </a:ext>
            </a:extLst>
          </p:cNvPr>
          <p:cNvSpPr>
            <a:spLocks noGrp="1"/>
          </p:cNvSpPr>
          <p:nvPr>
            <p:ph type="subTitle"/>
          </p:nvPr>
        </p:nvSpPr>
        <p:spPr>
          <a:xfrm>
            <a:off x="-363794" y="-570271"/>
            <a:ext cx="9050234" cy="6152071"/>
          </a:xfrm>
        </p:spPr>
        <p:txBody>
          <a:bodyPr/>
          <a:lstStyle/>
          <a:p>
            <a:pPr marL="457200" lvl="1" indent="0">
              <a:buNone/>
            </a:pPr>
            <a:r>
              <a:rPr lang="en-US" sz="2000" dirty="0"/>
              <a:t>Conclusion This study demonstrates that machine learning techniques can be effectively used to predict student academic performance at an early stage. By analyzing important academic factors such as attendance, internal assessment marks, study  hours, and previous academic performance, the system can identify patterns that influence student  success. Different machine learning models, including Logistic Regression, Decision Tree, and Random Forest, were implemented and evaluated. Among these models, Random Forest achieved the highest accuracy of approximately 88%, making it the most suitable model for predicting student performance in this study.</a:t>
            </a:r>
            <a:endParaRPr lang="en-IN" sz="2000" dirty="0"/>
          </a:p>
        </p:txBody>
      </p:sp>
    </p:spTree>
    <p:extLst>
      <p:ext uri="{BB962C8B-B14F-4D97-AF65-F5344CB8AC3E}">
        <p14:creationId xmlns:p14="http://schemas.microsoft.com/office/powerpoint/2010/main" val="1919700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89A1E-7586-16B0-20E0-6E19EE0A9650}"/>
              </a:ext>
            </a:extLst>
          </p:cNvPr>
          <p:cNvSpPr>
            <a:spLocks noGrp="1"/>
          </p:cNvSpPr>
          <p:nvPr>
            <p:ph type="title"/>
          </p:nvPr>
        </p:nvSpPr>
        <p:spPr/>
        <p:txBody>
          <a:bodyPr/>
          <a:lstStyle/>
          <a:p>
            <a:r>
              <a:rPr lang="en-IN" dirty="0"/>
              <a:t>References</a:t>
            </a:r>
          </a:p>
        </p:txBody>
      </p:sp>
      <p:sp>
        <p:nvSpPr>
          <p:cNvPr id="3" name="Subtitle 2">
            <a:extLst>
              <a:ext uri="{FF2B5EF4-FFF2-40B4-BE49-F238E27FC236}">
                <a16:creationId xmlns:a16="http://schemas.microsoft.com/office/drawing/2014/main" id="{DBB3A3D3-AF8B-E9F0-82B3-7780CF2E7993}"/>
              </a:ext>
            </a:extLst>
          </p:cNvPr>
          <p:cNvSpPr>
            <a:spLocks noGrp="1"/>
          </p:cNvSpPr>
          <p:nvPr>
            <p:ph type="subTitle"/>
          </p:nvPr>
        </p:nvSpPr>
        <p:spPr>
          <a:xfrm>
            <a:off x="0" y="914040"/>
            <a:ext cx="6941574" cy="4778837"/>
          </a:xfrm>
        </p:spPr>
        <p:txBody>
          <a:bodyPr/>
          <a:lstStyle/>
          <a:p>
            <a:pPr marL="914400" lvl="2" indent="0">
              <a:buNone/>
            </a:pPr>
            <a:r>
              <a:rPr lang="en-IN" dirty="0"/>
              <a:t>H. Cortez and A. Silva, “Using Data Mining to Predict Secondary School Student Performance,” 2008.P. Romero and S. Ventura, “Educational Data Mining: A Review,” IEEE, 2010.L. </a:t>
            </a:r>
            <a:r>
              <a:rPr lang="en-IN" dirty="0" err="1"/>
              <a:t>Breiman</a:t>
            </a:r>
            <a:r>
              <a:rPr lang="en-IN" dirty="0"/>
              <a:t>,  “Random Forests,” Machine Learning Journal, 2001.T. Hastie, R.  </a:t>
            </a:r>
            <a:r>
              <a:rPr lang="en-IN" dirty="0" err="1"/>
              <a:t>Tibshirani</a:t>
            </a:r>
            <a:r>
              <a:rPr lang="en-IN" dirty="0"/>
              <a:t>, and J. Friedman, “The Elements of Statistical Learning,” Springer, 2009.F. Pedregosa et al., “Scikit-learn: Machine Learning in Python,” Journal of Machine Learning Research, 2011.J. Han, M. Kamber, and J. Pei, “Data Mining: Concepts and Techniques,” 2012.A. Ng, “Machine Learning Yearning,” 2018 .S. </a:t>
            </a:r>
            <a:r>
              <a:rPr lang="en-IN" dirty="0" err="1"/>
              <a:t>Kotsiantis</a:t>
            </a:r>
            <a:r>
              <a:rPr lang="en-IN" dirty="0"/>
              <a:t>, “Use of Machine Learning Techniques for Educational Data Mining and Student Performance Prediction,” 2012.</a:t>
            </a:r>
          </a:p>
        </p:txBody>
      </p:sp>
    </p:spTree>
    <p:extLst>
      <p:ext uri="{BB962C8B-B14F-4D97-AF65-F5344CB8AC3E}">
        <p14:creationId xmlns:p14="http://schemas.microsoft.com/office/powerpoint/2010/main" val="3790638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34833</TotalTime>
  <Words>1369</Words>
  <Application>Microsoft Office PowerPoint</Application>
  <PresentationFormat>On-screen Show (4:3)</PresentationFormat>
  <Paragraphs>38</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Objectives</vt:lpstr>
      <vt:lpstr>Related Work</vt:lpstr>
      <vt:lpstr>Dataset Description </vt:lpstr>
      <vt:lpstr>Data Preprocessing</vt:lpstr>
      <vt:lpstr>System Workflow</vt:lpstr>
      <vt:lpstr>Results and Discussion</vt:lpstr>
      <vt:lpstr>PowerPoint Presentation</vt:lpstr>
      <vt:lpstr>Limitations and Future</vt:lpstr>
      <vt:lpstr>Conclusion</vt:lpstr>
      <vt:lpstr>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harsh hha</cp:lastModifiedBy>
  <cp:revision>2299</cp:revision>
  <dcterms:created xsi:type="dcterms:W3CDTF">2010-04-09T07:36:15Z</dcterms:created>
  <dcterms:modified xsi:type="dcterms:W3CDTF">2026-04-29T07:08:18Z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